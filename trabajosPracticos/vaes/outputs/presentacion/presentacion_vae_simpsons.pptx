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días. Vamos a ver cómo una red aprende a inventar caras de Los Simpson que no</a:t>
            </a:r>
          </a:p>
          <a:p>
            <a:r>
              <a:t>existen, partiendo de 9.877 fotogramas de la serie sin ninguna etiqueta.</a:t>
            </a:r>
          </a:p>
          <a:p>
            <a:r>
              <a:t>La charla está armada como una historia en tres actos, y cada acto arranca con el pizarrón</a:t>
            </a:r>
          </a:p>
          <a:p>
            <a:r>
              <a:t>de Bart escribiendo lo que aprendimos.</a:t>
            </a:r>
          </a:p>
          <a:p>
            <a:r>
              <a:t>Acto uno: construimos un autoencoder común y descubrimos que no sirve para generar.</a:t>
            </a:r>
          </a:p>
          <a:p>
            <a:r>
              <a:t>Vamos a llegar a caras inventadas que no están en el dataset, pero recién en el acto dos:</a:t>
            </a:r>
          </a:p>
          <a:p>
            <a:r>
              <a:t>hoy empezamos por el principio.</a:t>
            </a:r>
          </a:p>
          <a:p>
            <a:r>
              <a:t>Acto dos: lo arreglamos con un solo término en la función de pérdida.</a:t>
            </a:r>
          </a:p>
          <a:p>
            <a:r>
              <a:t>Acto tres: entrenamos un único modelo con los dos tipos de imagen que trae el dataset, y</a:t>
            </a:r>
          </a:p>
          <a:p>
            <a:r>
              <a:t>aparece algo que no esperábamos.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Acto uno, el caso base: un autoencoder comprime y descomprime. Funciona para reconstruir,</a:t>
            </a:r>
          </a:p>
          <a:p>
            <a:r>
              <a:t>y falla para generar. Vamos a ver por qué falla, que es lo más importante de la charla.</a:t>
            </a:r>
          </a:p>
          <a:p>
            <a:r>
              <a:t>Acto dos, la mejora: agregamos la divergencia KL. Con eso el espacio latente se ordena y</a:t>
            </a:r>
          </a:p>
          <a:p>
            <a:r>
              <a:t>el modelo se vuelve generativo.</a:t>
            </a:r>
          </a:p>
          <a:p>
            <a:r>
              <a:t>Acto tres, todos los datos: el dataset trae cada cara en dos versiones. Entrenamos un solo</a:t>
            </a:r>
          </a:p>
          <a:p>
            <a:r>
              <a:t>modelo con las dos juntas y aparece un resultado que no estaba en el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9.877 rostros recortados de capturas de la serie, de</a:t>
            </a:r>
          </a:p>
          <a:p>
            <a:r>
              <a:t>200x200 píxeles en RGB, unos 400 MB. Lo bajamos de</a:t>
            </a:r>
          </a:p>
          <a:p>
            <a:r>
              <a:t>Kaggle, del dataset «Simpsons Faces» del usuario kostastokis.</a:t>
            </a:r>
          </a:p>
          <a:p>
            <a:r>
              <a:t>El punto importante: no hay etiquetas. No sabemos qué personaje es cada cara. Esto es</a:t>
            </a:r>
          </a:p>
          <a:p>
            <a:r>
              <a:t>aprendizaje no supervisado puro. Y alcanza, porque en un autoencoder el dato es su propia</a:t>
            </a:r>
          </a:p>
          <a:p>
            <a:r>
              <a:t>etiqueta: la respuesta correcta para cada cara es esa misma cara.</a:t>
            </a:r>
          </a:p>
          <a:p>
            <a:r>
              <a:t>En la grilla se ve la variedad: personajes distintos, poses, fondos, encuadres.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Reducimos de 200×200 a 64×64 con interpolación LANCZOS, que preserva los bordes mejor que</a:t>
            </a:r>
          </a:p>
          <a:p>
            <a:r>
              <a:t>una bilineal. Perdemos las líneas finas del contorno, como se ve en la figura, pero entra</a:t>
            </a:r>
          </a:p>
          <a:p>
            <a:r>
              <a:t>cómodo en memoria y entrena en minutos.</a:t>
            </a:r>
          </a:p>
          <a:p>
            <a:r>
              <a:t>Los píxeles quedan en [0, 1], algo que va a importar para la función de pérdida.</a:t>
            </a:r>
          </a:p>
          <a:p>
            <a:r>
              <a:t>Y el número clave: cada imagen son 12.288 valores y los</a:t>
            </a:r>
          </a:p>
          <a:p>
            <a:r>
              <a:t>comprimimos a 128. 96 veces menos. Casi cualquier combinación de</a:t>
            </a:r>
          </a:p>
          <a:p>
            <a:r>
              <a:t>12.288 valores es ruido: las caras ocupan un rincón muy chico</a:t>
            </a:r>
          </a:p>
          <a:p>
            <a:r>
              <a:t>de ese espacio, y la apuesta es que 128 números alcanzan para describirlo.</a:t>
            </a:r>
          </a:p>
          <a:p>
            <a:r>
              <a:t>El split es 95/5.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mitades. El encoder toma la imagen y la comprime a un vector de 128</a:t>
            </a:r>
          </a:p>
          <a:p>
            <a:r>
              <a:t>números: eso es el espacio latente. El decoder hace el camino inverso.</a:t>
            </a:r>
          </a:p>
          <a:p>
            <a:r>
              <a:t>El truco está en el cuello de botella. Como 128 números no alcanzan para</a:t>
            </a:r>
          </a:p>
          <a:p>
            <a:r>
              <a:t>guardar 12.288, la red está obligada a quedarse con lo</a:t>
            </a:r>
          </a:p>
          <a:p>
            <a:r>
              <a:t>esencial: la forma de la cabeza, el color, dónde están los ojos. Lo que no pasa por el</a:t>
            </a:r>
          </a:p>
          <a:p>
            <a:r>
              <a:t>cuello, no se recupera.</a:t>
            </a:r>
          </a:p>
          <a:p>
            <a:r>
              <a:t>Y nadie le dice qué guardar. Esas 128 dimensiones las organiza el</a:t>
            </a:r>
          </a:p>
          <a:p>
            <a:r>
              <a:t>entrenamiento solo.</a:t>
            </a:r>
          </a:p>
          <a:p>
            <a:r>
              <a:t>En el mapa de calor del medio está el vector latente real de esa cara.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¿Cómo medimos si la reconstrucción es buena? Con entropía cruzada binaria, píxel a píxel.</a:t>
            </a:r>
          </a:p>
          <a:p>
            <a:r>
              <a:t>¿Por qué BCE y no error cuadrático? Porque la última capa del decoder es una sigmoide, que</a:t>
            </a:r>
          </a:p>
          <a:p>
            <a:r>
              <a:t>devuelve valores entre 0 y 1, y los píxeles de entrada también están en [0, 1]. Tratamos</a:t>
            </a:r>
          </a:p>
          <a:p>
            <a:r>
              <a:t>cada píxel como una probabilidad. Formalmente, suponemos que cada píxel sigue una Bernoulli.</a:t>
            </a:r>
          </a:p>
          <a:p>
            <a:r>
              <a:t>La sumamos sobre los 12.288 valores de cada imagen, así que</a:t>
            </a:r>
          </a:p>
          <a:p>
            <a:r>
              <a:t>los números que vamos a ver son del orden de los 6.000 nats por imagen.</a:t>
            </a:r>
          </a:p>
          <a:p>
            <a:r>
              <a:t>Un detalle de implementación: por esto mismo no se puede usar precisión mixta, la BCE es</a:t>
            </a:r>
          </a:p>
          <a:p>
            <a:r>
              <a:t>inestable en float16. Todo corre en float32.</a:t>
            </a:r>
          </a:p>
          <a:p>
            <a:r>
              <a:t>Y la idea más linda: el dato es su propia etiqueta.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encoder son cuatro convoluciones con stride 2: cada una divide la resolución a la mitad</a:t>
            </a:r>
          </a:p>
          <a:p>
            <a:r>
              <a:t>y duplica los canales. De 64×64×3 a 4×4×256, que aplanados son 4.096, y una lineal baja a</a:t>
            </a:r>
          </a:p>
          <a:p>
            <a:r>
              <a:t>128.</a:t>
            </a:r>
          </a:p>
          <a:p>
            <a:r>
              <a:t>El decoder es el espejo exacto. Cada bloque lleva BatchNorm; el encoder usa LeakyReLU y el</a:t>
            </a:r>
          </a:p>
          <a:p>
            <a:r>
              <a:t>decoder ReLU, salvo la última capa, que usa sigmoide.</a:t>
            </a:r>
          </a:p>
          <a:p>
            <a:r>
              <a:t>En total 2.434.243 parámetros.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Entrenamos 200 épocas con Adam, solo con la pérdida de reconstrucción.</a:t>
            </a:r>
          </a:p>
          <a:p>
            <a:r>
              <a:t>Funciona: la fila de abajo son caras que el modelo nunca vio, del conjunto de validación.</a:t>
            </a:r>
          </a:p>
          <a:p>
            <a:r>
              <a:t>Recupera la silueta del pelo, el color de piel, la posición de los ojos, el fondo.</a:t>
            </a:r>
          </a:p>
          <a:p>
            <a:r>
              <a:t>La pérdida final de reconstrucción es 6.327,85 nats por imagen.</a:t>
            </a:r>
          </a:p>
          <a:p>
            <a:r>
              <a:t>Lo que se pierde es el detalle fino: las líneas negras del contorno desaparecen.</a:t>
            </a:r>
          </a:p>
          <a:p>
            <a:r>
              <a:t>Hasta acá, todo bien. El autoencoder comprime y descomprime.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el decoder sabe convertir vectores de 128 números en caras, ¿por qué no le damos un</a:t>
            </a:r>
          </a:p>
          <a:p>
            <a:r>
              <a:t>vector cualquiera, sorteado de una normal estándar? Tendríamos un generador gratis.</a:t>
            </a:r>
          </a:p>
          <a:p>
            <a:r>
              <a:t>Esto que ven son 16 vectores sorteados de N(0, I) pasados por el decoder. No son caras: es</a:t>
            </a:r>
          </a:p>
          <a:p>
            <a:r>
              <a:t>la misma mancha verdosa dieciséis veces.</a:t>
            </a:r>
          </a:p>
          <a:p>
            <a:r>
              <a:t>Fíjense en ese detalle, porque es la pista: no solo falla, falla devolviendo siempre lo</a:t>
            </a:r>
          </a:p>
          <a:p>
            <a:r>
              <a:t>mismo. Eso ya dice algo sobre dónde cayeron esos dieciséis vectores.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Entonces: el autoencoder comprime y descomprime bien, pero no puede inventar una cara.</a:t>
            </a:r>
          </a:p>
          <a:p>
            <a:r>
              <a:t>Dejemos eso escrito antes de pasar a la pregunta que importa, que es por 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diapositiva más importante de la charla.</a:t>
            </a:r>
          </a:p>
          <a:p>
            <a:r>
              <a:t>Proyectamos con PCA los vectores latentes de todas las caras de validación, en azul, y</a:t>
            </a:r>
          </a:p>
          <a:p>
            <a:r>
              <a:t>encima 500 muestras de N(0, I) en naranja.</a:t>
            </a:r>
          </a:p>
          <a:p>
            <a:r>
              <a:t>Panel izquierdo, el autoencoder: las caras están desparramadas en un rango de −58 a 54,</a:t>
            </a:r>
          </a:p>
          <a:p>
            <a:r>
              <a:t>mientras que las muestras de la normal se concentran en un puntito en el origen. Miren los</a:t>
            </a:r>
          </a:p>
          <a:p>
            <a:r>
              <a:t>números de los ejes: difieren en un factor de diez.</a:t>
            </a:r>
          </a:p>
          <a:p>
            <a:r>
              <a:t>Ahí está la explicación de la mancha repetida. Los dieciséis vectores caen todos en la</a:t>
            </a:r>
          </a:p>
          <a:p>
            <a:r>
              <a:t>misma región minúscula, donde el autoencoder nunca puso ninguna cara. El decoder nunca</a:t>
            </a:r>
          </a:p>
          <a:p>
            <a:r>
              <a:t>aprendió qué hacer ahí.</a:t>
            </a:r>
          </a:p>
          <a:p>
            <a:r>
              <a:t>¿Y por qué quedó así? Porque nunca se lo pedimos. La pérdida solo premia reconstruir; en</a:t>
            </a:r>
          </a:p>
          <a:p>
            <a:r>
              <a:t>ningún término dice «y que el espacio quede ordenado».</a:t>
            </a:r>
          </a:p>
          <a:p>
            <a:r>
              <a:t>Panel derecho, adelanto del acto dos: rango de −4 a 6, y el prior se superpone con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Segundo acto. Arreglamos el problema con un solo término.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solución: en vez de mandar cada cara a un punto, el encoder devuelve una nube. Dos</a:t>
            </a:r>
          </a:p>
          <a:p>
            <a:r>
              <a:t>vectores, μ y log σ², que definen una gaussiana por cada imagen.</a:t>
            </a:r>
          </a:p>
          <a:p>
            <a:r>
              <a:t>¿Por qué ayuda? Porque el punto que le llega al decoder cambia en cada pasada. El decoder</a:t>
            </a:r>
          </a:p>
          <a:p>
            <a:r>
              <a:t>tiene que reconstruir bien desde cualquier lugar de la nube, así que aprende regiones en</a:t>
            </a:r>
          </a:p>
          <a:p>
            <a:r>
              <a:t>vez de puntos sueltos. Las nubes vecinas se pisan y los huecos se llenan con mezclas.</a:t>
            </a:r>
          </a:p>
          <a:p>
            <a:r>
              <a:t>Respecto del autoencoder cambian dos cosas: dos cabezas en vez de una, y un sorteo en el</a:t>
            </a:r>
          </a:p>
          <a:p>
            <a:r>
              <a:t>medio. El resto son los mismos bloques.</a:t>
            </a:r>
          </a:p>
          <a:p>
            <a:r>
              <a:t>Predecimos log σ² y no σ para que la red pueda devolver cualquier real y la exponencial</a:t>
            </a:r>
          </a:p>
          <a:p>
            <a:r>
              <a:t>garantice varianza positiva.</a:t>
            </a:r>
          </a:p>
          <a:p>
            <a:r>
              <a:t>2.958.659 parámetros, apenas 524.416</a:t>
            </a:r>
          </a:p>
          <a:p>
            <a:r>
              <a:t>más que el autoencoder.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Pero codificar nubes no alcanza, porque la red tiene dos trampas: achicar las nubes hasta</a:t>
            </a:r>
          </a:p>
          <a:p>
            <a:r>
              <a:t>que vuelvan a ser puntos, o separarlas tanto que no se toquen. En los dos casos el ruido</a:t>
            </a:r>
          </a:p>
          <a:p>
            <a:r>
              <a:t>deja de molestar y volvemos a tener un autoencoder.</a:t>
            </a:r>
          </a:p>
          <a:p>
            <a:r>
              <a:t>Por eso agregamos la KL contra N(0, I). Y lo lindo es que la fórmula tiene exactamente dos</a:t>
            </a:r>
          </a:p>
          <a:p>
            <a:r>
              <a:t>términos, uno contra cada trampa.</a:t>
            </a:r>
          </a:p>
          <a:p>
            <a:r>
              <a:t>μ² es un resorte hacia el origen: impide separar las nubes.</a:t>
            </a:r>
          </a:p>
          <a:p>
            <a:r>
              <a:t>σ² − log σ² − 1 vale cero justo en σ = 1 y crece si la nube se achica o se agranda:</a:t>
            </a:r>
          </a:p>
          <a:p>
            <a:r>
              <a:t>impide achicarlas.</a:t>
            </a:r>
          </a:p>
          <a:p>
            <a:r>
              <a:t>Entre los dos obligan a que las nubes queden centradas, de tamaño razonable y</a:t>
            </a:r>
          </a:p>
          <a:p>
            <a:r>
              <a:t>superpuestas. Los huecos se llenan.</a:t>
            </a:r>
          </a:p>
          <a:p>
            <a:r>
              <a:t>La pérdida total es la suma. Son dos fuerzas que tiran en direcciones opuestas.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significa concretamente que una cara sea una nube.</a:t>
            </a:r>
          </a:p>
          <a:p>
            <a:r>
              <a:t>Arriba a la izquierda, la original y su reconstrucción usando μ sin ruido: el centro de la</a:t>
            </a:r>
          </a:p>
          <a:p>
            <a:r>
              <a:t>nube. Las siete de la derecha son muestras de esa misma nube.</a:t>
            </a:r>
          </a:p>
          <a:p>
            <a:r>
              <a:t>Y acá hay que ser honesto: a simple vista parecen idénticas. No es un error. La nube es</a:t>
            </a:r>
          </a:p>
          <a:p>
            <a:r>
              <a:t>angosta, σ medio 0,38, así que las muestras difieren milésimas por</a:t>
            </a:r>
          </a:p>
          <a:p>
            <a:r>
              <a:t>píxel.</a:t>
            </a:r>
          </a:p>
          <a:p>
            <a:r>
              <a:t>Por eso la fila de abajo: la diferencia contra decode(μ) multiplicada por seis. Ahí</a:t>
            </a:r>
          </a:p>
          <a:p>
            <a:r>
              <a:t>aparece el dato interesante: la variación está concentrada en los contornos —el borde de</a:t>
            </a:r>
          </a:p>
          <a:p>
            <a:r>
              <a:t>la cabeza, los ojos, la boca— y en el fondo. Las zonas planas son negras, idénticas.</a:t>
            </a:r>
          </a:p>
          <a:p>
            <a:r>
              <a:t>La incertidumbre del modelo es sobre dónde cae exactamente cada borde. Y esa es la razón</a:t>
            </a:r>
          </a:p>
          <a:p>
            <a:r>
              <a:t>de que las imágenes salgan borrosas, algo que retomamos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medir el tamaño de la nube la agrandamos a propósito, multiplicando σ por un factor k.</a:t>
            </a:r>
          </a:p>
          <a:p>
            <a:r>
              <a:t>Cada columna usa el mismo ε, así que lo único que cambia entre filas es el factor.</a:t>
            </a:r>
          </a:p>
          <a:p>
            <a:r>
              <a:t>Con k = 0 no hay ruido. Con k = 1, 2 y hasta 3 sigue siendo la misma cara: puse la</a:t>
            </a:r>
          </a:p>
          <a:p>
            <a:r>
              <a:t>diferencia medida por píxel al lado de cada fila para que se vea que crece, de 0,023 a</a:t>
            </a:r>
          </a:p>
          <a:p>
            <a:r>
              <a:t>0,079, pero el ojo casi no la registra.</a:t>
            </a:r>
          </a:p>
          <a:p>
            <a:r>
              <a:t>Recién en k = 6 la cara se desarma. Cada cara ocupa una región chica y bien definida.</a:t>
            </a:r>
          </a:p>
          <a:p>
            <a:r>
              <a:t>Agregué la fila de k = 6 justamente porque con las cuatro primeras la conclusión no se</a:t>
            </a:r>
          </a:p>
          <a:p>
            <a:r>
              <a:t>veía. Es más honesto mostrar dónde se rompe que afirmar que se rompe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Adam con lr 0,001, batch 128, 200 épocas, en una</a:t>
            </a:r>
          </a:p>
          <a:p>
            <a:r>
              <a:t>NVIDIA GeForce RTX 5060 Ti. Tardó 12,6 minutos.</a:t>
            </a:r>
          </a:p>
          <a:p>
            <a:r>
              <a:t>El panel izquierdo es la reconstrucción; en verde la del autoencoder común, que termina</a:t>
            </a:r>
          </a:p>
          <a:p>
            <a:r>
              <a:t>más abajo — no paga el costo de la regularización.</a:t>
            </a:r>
          </a:p>
          <a:p>
            <a:r>
              <a:t>El del medio es la KL, el panel de diagnóstico. Sube de 50 a unos 144,49</a:t>
            </a:r>
          </a:p>
          <a:p>
            <a:r>
              <a:t>nats y se estabiliza. Si hubiera caído a cero tendríamos «posterior collapse»: el decoder</a:t>
            </a:r>
          </a:p>
          <a:p>
            <a:r>
              <a:t>ignoraría z. No pasó, y lo confirmé dimensión por dimensión: 101 de las</a:t>
            </a:r>
          </a:p>
          <a:p>
            <a:r>
              <a:t>128 tienen σ por debajo de 0,5. Solo 3 quedaron</a:t>
            </a:r>
          </a:p>
          <a:p>
            <a:r>
              <a:t>pegadas al prior.</a:t>
            </a:r>
          </a:p>
          <a:p>
            <a:r>
              <a:t>El derecho es la suma. La punteada marca la época 62, el mínimo de</a:t>
            </a:r>
          </a:p>
          <a:p>
            <a:r>
              <a:t>validación; de ahí en adelante el train sigue bajando y la validación no: sobreajuste leve.</a:t>
            </a:r>
          </a:p>
          <a:p>
            <a:r>
              <a:t>A diferencia de una GAN, hay una sola pérdida que baja de forma monótona y que informa.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Arriba las originales, en el medio el VAE a la época 30, abajo a la 200.</a:t>
            </a:r>
          </a:p>
          <a:p>
            <a:r>
              <a:t>A la 30 ya se reconocen los personajes; la validación era 6.681,14 nats.</a:t>
            </a:r>
          </a:p>
          <a:p>
            <a:r>
              <a:t>Y algo que conviene señalar antes de que lo pregunten: a la 200 la validación queda en</a:t>
            </a:r>
          </a:p>
          <a:p>
            <a:r>
              <a:t>6.682,84, prácticamente igual, de hecho un poquito peor. Y sin embargo las</a:t>
            </a:r>
          </a:p>
          <a:p>
            <a:r>
              <a:t>imágenes se ven mejor: ojos más definidos, fondo más limpio.</a:t>
            </a:r>
          </a:p>
          <a:p>
            <a:r>
              <a:t>No es contradicción. La pérdida promedia 12.288 valores, así</a:t>
            </a:r>
          </a:p>
          <a:p>
            <a:r>
              <a:t>que una mejora concentrada en los bordes casi no la mueve. La métrica y la calidad</a:t>
            </a:r>
          </a:p>
          <a:p>
            <a:r>
              <a:t>percibida no son lo mismo.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 acá está la respuesta a la pregunta del acto uno.</a:t>
            </a:r>
          </a:p>
          <a:p>
            <a:r>
              <a:t>A la izquierda, el autoencoder decodificando vectores aleatorios: la mancha de siempre.</a:t>
            </a:r>
          </a:p>
          <a:p>
            <a:r>
              <a:t>A la derecha, el VAE decodificando exactamente los mismos vectores. Son caras. Borrosas,</a:t>
            </a:r>
          </a:p>
          <a:p>
            <a:r>
              <a:t>pero con estructura. Y ninguna está en el dataset.</a:t>
            </a:r>
          </a:p>
          <a:p>
            <a:r>
              <a:t>Vale subrayarlo: la arquitectura es casi idéntica, los datos son los mismos, el</a:t>
            </a:r>
          </a:p>
          <a:p>
            <a:r>
              <a:t>optimizador es el mismo, los vectores son literalmente los mismos. Lo único que cambia es</a:t>
            </a:r>
          </a:p>
          <a:p>
            <a:r>
              <a:t>que el encoder devuelve una distribución y que la pérdida tiene el término KL.</a:t>
            </a:r>
          </a:p>
          <a:p>
            <a:r>
              <a:t>Eso solo convierte un compresor en un generador.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Última evidencia del acto, y la más convincente.</a:t>
            </a:r>
          </a:p>
          <a:p>
            <a:r>
              <a:t>Tomamos dos caras de validación, las codificamos, y recorremos la recta que las une en el</a:t>
            </a:r>
          </a:p>
          <a:p>
            <a:r>
              <a:t>latente, con diez pasos.</a:t>
            </a:r>
          </a:p>
          <a:p>
            <a:r>
              <a:t>Si el espacio tuviera huecos, en algún punto del camino caeríamos en una zona muerta. Y no</a:t>
            </a:r>
          </a:p>
          <a:p>
            <a:r>
              <a:t>pasa: toda la transición son caras. El pelo se transforma gradualmente, el fondo cambia de</a:t>
            </a:r>
          </a:p>
          <a:p>
            <a:r>
              <a:t>color de forma continua, la pose rota de a poco.</a:t>
            </a:r>
          </a:p>
          <a:p>
            <a:r>
              <a:t>La región entre dos caras conocidas también está poblada de caras. Es la continuidad que</a:t>
            </a:r>
          </a:p>
          <a:p>
            <a:r>
              <a:t>pedíamos en el acto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Tercer acto. Hasta acá usamos la mitad del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archivo de Kaggle trae dos carpetas con las mismas 9.877 caras.</a:t>
            </a:r>
          </a:p>
          <a:p>
            <a:r>
              <a:t>Arriba «cropped»: el fotograma real, con sombreados, texturas y fondos. Unos 9.500</a:t>
            </a:r>
          </a:p>
          <a:p>
            <a:r>
              <a:t>colores distintos por imagen.</a:t>
            </a:r>
          </a:p>
          <a:p>
            <a:r>
              <a:t>Abajo «simplified»: la misma cara con colores planos. Tres colores únicos por imagen.</a:t>
            </a:r>
          </a:p>
          <a:p>
            <a:r>
              <a:t>Hasta ahora entrenamos solo con cropped. Ahora entrenamos UN modelo con las dos juntas:</a:t>
            </a:r>
          </a:p>
          <a:p>
            <a:r>
              <a:t>19.754 imágenes.</a:t>
            </a:r>
          </a:p>
          <a:p>
            <a:r>
              <a:t>La pregunta no es cuál anda mejor. Es qué hace el modelo cuando tiene que acomodar las</a:t>
            </a:r>
          </a:p>
          <a:p>
            <a:r>
              <a:t>dos cosas en un mismo espacio latente de 128 dimensiones.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modelo, mismos hiperparámetros, 200 épocas. Lo único que cambia es que ve las dos</a:t>
            </a:r>
          </a:p>
          <a:p>
            <a:r>
              <a:t>carpetas, y el split mezcla los dos estilos en lugar de dejar uno entero de un lado.</a:t>
            </a:r>
          </a:p>
          <a:p>
            <a:r>
              <a:t>Tardó 17,9 minutos, casi el doble, porque son el doble de imágenes.</a:t>
            </a:r>
          </a:p>
          <a:p>
            <a:r>
              <a:t>Los números quedan donde uno esperaría: entre los dos modelos individuales. La pérdida</a:t>
            </a:r>
          </a:p>
          <a:p>
            <a:r>
              <a:t>total 6.090,26, contra 6.576,28 del de cropped y</a:t>
            </a:r>
          </a:p>
          <a:p>
            <a:r>
              <a:t>5.559,30 del de simplified.</a:t>
            </a:r>
          </a:p>
          <a:p>
            <a:r>
              <a:t>Eso no es interesante en sí mismo. Lo interesante es lo que hizo con el espacio latente,</a:t>
            </a:r>
          </a:p>
          <a:p>
            <a:r>
              <a:t>que es lo que vemos a continuación.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diapositiva que justifica el acto entero.</a:t>
            </a:r>
          </a:p>
          <a:p>
            <a:r>
              <a:t>Lo primero que miramos fue si el modelo había armado dos nubes separadas, una por estilo.</a:t>
            </a:r>
          </a:p>
          <a:p>
            <a:r>
              <a:t>No: los centroides están a 2,42 con una dispersión</a:t>
            </a:r>
          </a:p>
          <a:p>
            <a:r>
              <a:t>interna de 9,55, o sea completamente entremezcladas. El modelo organizó el</a:t>
            </a:r>
          </a:p>
          <a:p>
            <a:r>
              <a:t>latente por qué cara es, no por en qué estilo está dibujada.</a:t>
            </a:r>
          </a:p>
          <a:p>
            <a:r>
              <a:t>Entonces, ¿dónde quedó el estilo? Probamos esto: tomamos 1.500 pares y calculamos v, el</a:t>
            </a:r>
          </a:p>
          <a:p>
            <a:r>
              <a:t>promedio de μ de la versión simplificada menos μ de la versión cropped.</a:t>
            </a:r>
          </a:p>
          <a:p>
            <a:r>
              <a:t>Si el estilo fuera ruido, esas restas apuntarían para cualquier lado y el promedio daría</a:t>
            </a:r>
          </a:p>
          <a:p>
            <a:r>
              <a:t>casi cero. Pero el 100 por ciento de los pares tiene</a:t>
            </a:r>
          </a:p>
          <a:p>
            <a:r>
              <a:t>coseno positivo con esa dirección. Todos. La dirección es consistente.</a:t>
            </a:r>
          </a:p>
          <a:p>
            <a:r>
              <a:t>Y sirve. En la figura, la primera columna es una cara cropped, la segunda su</a:t>
            </a:r>
          </a:p>
          <a:p>
            <a:r>
              <a:t>reconstrucción, y después le vamos sumando α por v. En α = 1 el resultado se parece mucho</a:t>
            </a:r>
          </a:p>
          <a:p>
            <a:r>
              <a:t>a su versión simplificada real, que está en la última columna.</a:t>
            </a:r>
          </a:p>
          <a:p>
            <a:r>
              <a:t>El detalle importante: estas cinco caras NO entraron en el cálculo de v. Y el modelo nunca</a:t>
            </a:r>
          </a:p>
          <a:p>
            <a:r>
              <a:t>supo que las imágenes venían en pares — la correspondencia la dedujo solo, nada más que</a:t>
            </a:r>
          </a:p>
          <a:p>
            <a:r>
              <a:t>por tener que acomodar los dos estilos en el mismo espacio.</a:t>
            </a:r>
          </a:p>
          <a:p>
            <a:r>
              <a:t>Esto es aritmética en el espacio latente: sumar un vector constante aplica un concepto.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Otra forma de verlo: interpolar entre una cara y su propia versión simplificada.</a:t>
            </a:r>
          </a:p>
          <a:p>
            <a:r>
              <a:t>La transición es suave y, sobre todo, la identidad se mantiene todo el camino. Es siempre</a:t>
            </a:r>
          </a:p>
          <a:p>
            <a:r>
              <a:t>la misma cara, en la misma pose, cambiando de estilo.</a:t>
            </a:r>
          </a:p>
          <a:p>
            <a:r>
              <a:t>Eso confirma lo de la diapositiva anterior desde otro ángulo: identidad y estilo quedaron</a:t>
            </a:r>
          </a:p>
          <a:p>
            <a:r>
              <a:t>codificados de forma separable. El modelo puede mover uno dejando el otro quieto.</a:t>
            </a:r>
          </a:p>
          <a:p>
            <a:r>
              <a:t>Y lo hizo sin supervisión de ningún 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Última pregunta del acto: cuando le pedimos una cara nueva, ¿en qué estilo la dibuja?</a:t>
            </a:r>
          </a:p>
          <a:p>
            <a:r>
              <a:t>Las dos cosas, mitad y mitad. Proyectando sobre la dirección de estilo, las caras reales</a:t>
            </a:r>
          </a:p>
          <a:p>
            <a:r>
              <a:t>caen en -1,09 las cropped y 1,33 las</a:t>
            </a:r>
          </a:p>
          <a:p>
            <a:r>
              <a:t>simplified; las generadas caen en 0,00, repartidas</a:t>
            </a:r>
          </a:p>
          <a:p>
            <a:r>
              <a:t>46 / 54.</a:t>
            </a:r>
          </a:p>
          <a:p>
            <a:r>
              <a:t>En la grilla, ordenada por textura, se ve el recorrido completo: a la izquierda caras de</a:t>
            </a:r>
          </a:p>
          <a:p>
            <a:r>
              <a:t>color plano con fondo celeste, a la derecha caras con fondo texturado, y en el medio</a:t>
            </a:r>
          </a:p>
          <a:p>
            <a:r>
              <a:t>híbridos que no existen en ninguna de las dos carpetas.</a:t>
            </a:r>
          </a:p>
          <a:p>
            <a:r>
              <a:t>Eso es lo que uno querría de un modelo generativo entrenado con dos fuentes: no eligió una</a:t>
            </a:r>
          </a:p>
          <a:p>
            <a:r>
              <a:t>y descartó la otra, cubrió las dos y lo que hay entre medio.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Vale la pena contar cómo se mide esto, porque el primer intento estuvo mal y el error es</a:t>
            </a:r>
          </a:p>
          <a:p>
            <a:r>
              <a:t>instructivo.</a:t>
            </a:r>
          </a:p>
          <a:p>
            <a:r>
              <a:t>Primer intento: la textura por píxel, o sea cuánto difiere cada píxel de sus vecinos. Las</a:t>
            </a:r>
          </a:p>
          <a:p>
            <a:r>
              <a:t>simplified reales dan 0,0218 y las cropped</a:t>
            </a:r>
          </a:p>
          <a:p>
            <a:r>
              <a:t>0,0520: bien separadas. Las generadas daban</a:t>
            </a:r>
          </a:p>
          <a:p>
            <a:r>
              <a:t>0,0274, del lado de simplified, y la conclusión salía</a:t>
            </a:r>
          </a:p>
          <a:p>
            <a:r>
              <a:t>«100 % simplified».</a:t>
            </a:r>
          </a:p>
          <a:p>
            <a:r>
              <a:t>Era falso. El desenfoque del VAE baja la textura exactamente igual que la simplificación,</a:t>
            </a:r>
          </a:p>
          <a:p>
            <a:r>
              <a:t>así que una cara cropped borrosa se confunde con una simplified nítida. La medida no</a:t>
            </a:r>
          </a:p>
          <a:p>
            <a:r>
              <a:t>estaba midiendo estilo: estaba midiendo desenfoque.</a:t>
            </a:r>
          </a:p>
          <a:p>
            <a:r>
              <a:t>Lo correcto es medirlo donde el modelo efectivamente codificó el estilo, que es el</a:t>
            </a:r>
          </a:p>
          <a:p>
            <a:r>
              <a:t>latente. El procedimiento es el del gráfico, en tres pasos.</a:t>
            </a:r>
          </a:p>
          <a:p>
            <a:r>
              <a:t>Uno: tomamos la dirección de estilo v de la diapositiva anterior y la normalizamos.</a:t>
            </a:r>
          </a:p>
          <a:p>
            <a:r>
              <a:t>Dos: proyectamos sobre ella los μ de las caras reales. Las cropped caen en</a:t>
            </a:r>
          </a:p>
          <a:p>
            <a:r>
              <a:t>-1,09 y las simplified en 1,33: son las</a:t>
            </a:r>
          </a:p>
          <a:p>
            <a:r>
              <a:t>dos campanas del gráfico. Que estén bien separadas es lo que valida que la dirección</a:t>
            </a:r>
          </a:p>
          <a:p>
            <a:r>
              <a:t>sirve para distinguir estilos.</a:t>
            </a:r>
          </a:p>
          <a:p>
            <a:r>
              <a:t>Tres: proyectamos los z sorteados del prior —la línea negra— y vemos de qué lado del</a:t>
            </a:r>
          </a:p>
          <a:p>
            <a:r>
              <a:t>punto medio cae cada uno. Resultado: 46 por ciento</a:t>
            </a:r>
          </a:p>
          <a:p>
            <a:r>
              <a:t>del lado simplified, 54 del lado cropped. Y</a:t>
            </a:r>
          </a:p>
          <a:p>
            <a:r>
              <a:t>eso sí coincide con lo que se ve en la grilla.</a:t>
            </a:r>
          </a:p>
          <a:p>
            <a:r>
              <a:t>La moraleja vale para todo el trabajo: cuando una métrica y los ojos no coinciden, lo</a:t>
            </a:r>
          </a:p>
          <a:p>
            <a:r>
              <a:t>primero a revisar es la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El pizarrón resume los cinco puntos del trabajo.</a:t>
            </a:r>
          </a:p>
          <a:p>
            <a:r>
              <a:t>Uno: un autoencoder comprime y descomprime, y el dato es su propia etiqueta.</a:t>
            </a:r>
          </a:p>
          <a:p>
            <a:r>
              <a:t>Dos: un autoencoder no genera, porque su latente tiene islas y huecos.</a:t>
            </a:r>
          </a:p>
          <a:p>
            <a:r>
              <a:t>Tres: la KL ata las nubes a N(0, I) y eso vuelve el latente continuo y completo.</a:t>
            </a:r>
          </a:p>
          <a:p>
            <a:r>
              <a:t>Cuatro: la reparametrización z = μ + σ·ε permite entrenarlo con gradiente.</a:t>
            </a:r>
          </a:p>
          <a:p>
            <a:r>
              <a:t>Cinco: con los dos estilos juntos, simplificar resultó ser una dirección del espacio,</a:t>
            </a:r>
          </a:p>
          <a:p>
            <a:r>
              <a:t>aprendida sin que nadie le dijera que las imágenes venían en pares.</a:t>
            </a:r>
          </a:p>
          <a:p>
            <a:r>
              <a:t>Queda una limitación, que es la que vemos ahora.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limitación honesta. Las caras son borrosas, y no es un bug.</a:t>
            </a:r>
          </a:p>
          <a:p>
            <a:r>
              <a:t>La BCE penaliza cada píxel por separado. Cuando el modelo no está seguro de dónde cae un</a:t>
            </a:r>
          </a:p>
          <a:p>
            <a:r>
              <a:t>borde, lo que minimiza la pérdida es promediar todas las posiciones posibles en vez de</a:t>
            </a:r>
          </a:p>
          <a:p>
            <a:r>
              <a:t>jugarse por una. El promedio de muchas caras es, inevitablemente, una cara borrosa.</a:t>
            </a:r>
          </a:p>
          <a:p>
            <a:r>
              <a:t>Lo confirmamos dos veces: en los mapas de diferencia del acto dos, donde la variación</a:t>
            </a:r>
          </a:p>
          <a:p>
            <a:r>
              <a:t>estaba toda en los contornos, y en que la métrica no mejora aunque los bordes sí.</a:t>
            </a:r>
          </a:p>
          <a:p>
            <a:r>
              <a:t>Una GAN no promedia, porque el discriminador castiga cualquier cosa que no parezca real,</a:t>
            </a:r>
          </a:p>
          <a:p>
            <a:r>
              <a:t>y una cara promedio no parece real. Por eso da más nítido, a cambio de un entrenamiento</a:t>
            </a:r>
          </a:p>
          <a:p>
            <a:r>
              <a:t>inestable y riesgo de mode collapse.</a:t>
            </a:r>
          </a:p>
          <a:p>
            <a:r>
              <a:t>Abajo vuelvo a poner la figura del acto dos, porque es la prueba más directa: la variación</a:t>
            </a:r>
          </a:p>
          <a:p>
            <a:r>
              <a:t>del modelo está concentrada en los contornos, que es exactamente donde no sabe dónde cae</a:t>
            </a:r>
          </a:p>
          <a:p>
            <a:r>
              <a:t>el borde. Ahí es donde promedia, y por eso es ahí donde se ve borroso.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Gracias. Dejo el sofá vacío porque, como en la serie, nunca se sabe quién se va a sentar.</a:t>
            </a:r>
          </a:p>
          <a:p>
            <a:r>
              <a:t>Si hay preguntas, arranco por la que siempre aparece: por qué no usamos una GAN. La</a:t>
            </a:r>
          </a:p>
          <a:p>
            <a:r>
              <a:t>respuesta corta está en la diapositiva anterior; la larga es que el VAE nos daba un</a:t>
            </a:r>
          </a:p>
          <a:p>
            <a:r>
              <a:t>encoder, que es lo que permitió todo el análisis del espacio latente del acto 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FA8D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286000"/>
            <a:ext cx="12191695" cy="26517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420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D90F"/>
                </a:solidFill>
                <a:latin typeface="Liberation Sans"/>
              </a:rPr>
              <a:t>T R A B A J O   P R Á C T I C O   ·   I N T E L I G E N C I A   A R T I F I C I A L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DF7E3"/>
                </a:solidFill>
                <a:latin typeface="Noto Serif"/>
              </a:rPr>
              <a:t>Generando caras de Los Simpson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CE4D0"/>
                </a:solidFill>
                <a:latin typeface="Noto Serif"/>
              </a:rPr>
              <a:t>Un autoencoder variacional que comprime cada cara a 128 números y la vuelve a dibujar</a:t>
            </a:r>
          </a:p>
        </p:txBody>
      </p:sp>
      <p:pic>
        <p:nvPicPr>
          <p:cNvPr id="7" name="Picture 6" descr="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301752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L A   H I S T O R I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Tres actos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167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0167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2</a:t>
            </a:r>
          </a:p>
        </p:txBody>
      </p:sp>
      <p:pic>
        <p:nvPicPr>
          <p:cNvPr id="6" name="Picture 5" descr="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1051560"/>
            <a:ext cx="1005840" cy="1005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2148840"/>
            <a:ext cx="10545775" cy="5120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86000"/>
            <a:ext cx="4413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ans"/>
              </a:rPr>
              <a:t>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7790" y="2286000"/>
            <a:ext cx="42378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FFFFF"/>
                </a:solidFill>
                <a:latin typeface="Liberation Sans"/>
              </a:rPr>
              <a:t>Qué pasa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931" y="2286000"/>
            <a:ext cx="4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FFFFF"/>
                </a:solidFill>
                <a:latin typeface="Liberation Sans"/>
              </a:rPr>
              <a:t>Con qué nos quedamos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60904"/>
            <a:ext cx="10545775" cy="566928"/>
          </a:xfrm>
          <a:prstGeom prst="rect">
            <a:avLst/>
          </a:prstGeom>
          <a:solidFill>
            <a:srgbClr val="FD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88920"/>
            <a:ext cx="4413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7790" y="2788920"/>
            <a:ext cx="42378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El caso base: el autoencoder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931" y="2788920"/>
            <a:ext cx="4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2B2B2B"/>
                </a:solidFill>
                <a:latin typeface="Liberation Sans"/>
              </a:rPr>
              <a:t>Reconstruye bien, pero no puede generar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355848"/>
            <a:ext cx="4413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7790" y="3355848"/>
            <a:ext cx="42378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La mejora: la divergencia KL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931" y="3355848"/>
            <a:ext cx="4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2B2B2B"/>
                </a:solidFill>
                <a:latin typeface="Liberation Sans"/>
              </a:rPr>
              <a:t>Codificar una nube, no un punto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10545775" cy="566928"/>
          </a:xfrm>
          <a:prstGeom prst="rect">
            <a:avLst/>
          </a:prstGeom>
          <a:solidFill>
            <a:srgbClr val="FD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922776"/>
            <a:ext cx="4413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7790" y="3922776"/>
            <a:ext cx="42378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Todos los datos juntos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931" y="3922776"/>
            <a:ext cx="4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2B2B2B"/>
                </a:solidFill>
                <a:latin typeface="Liberation Sans"/>
              </a:rPr>
              <a:t>«Simplificar» es una dirección del latente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434840"/>
            <a:ext cx="10545775" cy="960120"/>
          </a:xfrm>
          <a:prstGeom prst="rect">
            <a:avLst/>
          </a:prstGeom>
          <a:solidFill>
            <a:srgbClr val="E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434840"/>
            <a:ext cx="50292" cy="96012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4590288"/>
            <a:ext cx="9997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9DD3"/>
                </a:solidFill>
                <a:latin typeface="Liberation Sans"/>
              </a:rPr>
              <a:t>L A   P R E G U N T A   D E   F O N D 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4919472"/>
            <a:ext cx="994227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¿Cómo se consigue que una red invente caras nuevas sin que nadie le diga nunca qué personaje es cada una?</a:t>
            </a:r>
          </a:p>
        </p:txBody>
      </p:sp>
      <p:pic>
        <p:nvPicPr>
          <p:cNvPr id="26" name="Picture 25" descr="tira_car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00800"/>
            <a:ext cx="1219169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E L   D A T A S E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9.877 caras, cero etiquetas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1043" y="2148840"/>
            <a:ext cx="3573114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set_ejemp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347" y="2295144"/>
            <a:ext cx="3280506" cy="3639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2240280"/>
            <a:ext cx="45107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 i="0">
                <a:solidFill>
                  <a:srgbClr val="2B2B2B"/>
                </a:solidFill>
                <a:latin typeface="Liberation Sans"/>
              </a:rPr>
              <a:t>9.877 imágenes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0" i="0">
                <a:solidFill>
                  <a:srgbClr val="55606A"/>
                </a:solidFill>
                <a:latin typeface="Liberation Sans"/>
              </a:rPr>
              <a:t>200×200 px · RGB · PNG · 400 MB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0" i="0">
                <a:solidFill>
                  <a:srgbClr val="55606A"/>
                </a:solidFill>
                <a:latin typeface="Liberation Sans"/>
              </a:rPr>
              <a:t>Kaggle — «Simpsons Faces», de kostastokis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3703320"/>
            <a:ext cx="4510735" cy="1371600"/>
          </a:xfrm>
          <a:prstGeom prst="rect">
            <a:avLst/>
          </a:prstGeom>
          <a:solidFill>
            <a:srgbClr val="E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3703320"/>
            <a:ext cx="50292" cy="137160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9752" y="3858768"/>
            <a:ext cx="3962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9DD3"/>
                </a:solidFill>
                <a:latin typeface="Liberation Sans"/>
              </a:rPr>
              <a:t>S I N   E T I Q U E T A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4187952"/>
            <a:ext cx="3907231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No sabemos qué personaje es cada cara. En un autoencoder no hace falta: la respuesta correcta para cada imagen es esa misma imagen.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E L   D A T A S E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De 12.288 números a 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7865" y="2148840"/>
            <a:ext cx="267915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eprocesa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69" y="2295144"/>
            <a:ext cx="2386542" cy="3639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2148840"/>
            <a:ext cx="3352647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2148840"/>
            <a:ext cx="45720" cy="123444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28040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9DD3"/>
                </a:solidFill>
                <a:latin typeface="Liberation Sans"/>
              </a:rPr>
              <a:t>200×200 → 64×64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280400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Interpolación LANCZOS. Píxeles escalados a [0, 1].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087" y="2148840"/>
            <a:ext cx="3352647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6087" y="2148840"/>
            <a:ext cx="45720" cy="123444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407" y="2331720"/>
            <a:ext cx="28040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9DD3"/>
                </a:solidFill>
                <a:latin typeface="Liberation Sans"/>
              </a:rPr>
              <a:t>Split 95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407" y="2697480"/>
            <a:ext cx="280400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9.383 de entrenamiento y 494 de validación.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657600"/>
            <a:ext cx="7071055" cy="1828800"/>
          </a:xfrm>
          <a:prstGeom prst="rect">
            <a:avLst/>
          </a:prstGeom>
          <a:solidFill>
            <a:srgbClr val="FA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3657600"/>
            <a:ext cx="50292" cy="182880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813048"/>
            <a:ext cx="6522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4F30"/>
                </a:solidFill>
                <a:latin typeface="Liberation Sans"/>
              </a:rPr>
              <a:t>E L   N Ú M E R O   Q U E   I M P O R T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4142232"/>
            <a:ext cx="6467551" cy="1252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Cada imagen son 12.288 valores (64 × 64 × 3) y los comprimimos a 128: 96 veces menos. Casi cualquier combinación de esos 12.288 valores es ruido — las caras ocupan un rincón muy chico del espacio.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A C T O   1   ·   E L   C A S O   B A S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Encoder, espacio latente,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27707" y="2148840"/>
            <a:ext cx="7736281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ipeline_ejemp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011" y="2295144"/>
            <a:ext cx="7443673" cy="22219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4800600"/>
            <a:ext cx="327141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800600"/>
            <a:ext cx="45720" cy="105156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83480"/>
            <a:ext cx="2722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9DD3"/>
                </a:solidFill>
                <a:latin typeface="Liberation Sans"/>
              </a:rPr>
              <a:t>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49240"/>
            <a:ext cx="27227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Comprime la imagen a un vector chico.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0138" y="4800600"/>
            <a:ext cx="327141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0138" y="4800600"/>
            <a:ext cx="45720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4458" y="4983480"/>
            <a:ext cx="2722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Liberation Sans"/>
              </a:rPr>
              <a:t>Latente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4458" y="5349240"/>
            <a:ext cx="27227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Donde viven los códigos z: 128 números.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4800600"/>
            <a:ext cx="327141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7316" y="4800600"/>
            <a:ext cx="45720" cy="105156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1636" y="4983480"/>
            <a:ext cx="2722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4F30"/>
                </a:solidFill>
                <a:latin typeface="Liberation Sans"/>
              </a:rPr>
              <a:t>Decoder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1636" y="5349240"/>
            <a:ext cx="27227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Descomprime el vector a una imagen.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A C T O   1   ·   E L   C A S O   B A S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El objetivo: reconstruir lo mejor posible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3288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B2B2B"/>
                </a:solidFill>
                <a:latin typeface="Noto Serif"/>
              </a:rPr>
              <a:t>BCE(x, x̂)  =  − Σ [ x · log(x̂)  +  (1 − x) · log(1 − x̂)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20440"/>
            <a:ext cx="5090007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45720" cy="118872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45413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9DD3"/>
                </a:solidFill>
                <a:latin typeface="Liberation Sans"/>
              </a:rPr>
              <a:t>Sigmoide + [0,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454136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La salida del decoder y los píxeles reales viven en el mismo rango: se comparan como probabilidades.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520440"/>
            <a:ext cx="5090007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3520440"/>
            <a:ext cx="45720" cy="118872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3703320"/>
            <a:ext cx="45413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9DD3"/>
                </a:solidFill>
                <a:latin typeface="Liberation Sans"/>
              </a:rPr>
              <a:t>Suma sobre 12.288 valores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069080"/>
            <a:ext cx="454136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Por eso las pérdidas se miden en miles de nats por imagen.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92040"/>
            <a:ext cx="10545775" cy="914400"/>
          </a:xfrm>
          <a:prstGeom prst="rect">
            <a:avLst/>
          </a:prstGeom>
          <a:solidFill>
            <a:srgbClr val="FA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892040"/>
            <a:ext cx="50292" cy="91440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5047488"/>
            <a:ext cx="9997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4F30"/>
                </a:solidFill>
                <a:latin typeface="Liberation Sans"/>
              </a:rPr>
              <a:t>I N T U I C I Ó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5376672"/>
            <a:ext cx="9942271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El dato es su propia etiqueta. No hace falta etiquetar nada: la respuesta correcta para cada cara es esa misma cara.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A C T O   1   ·   E L   C A S O   B A S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Encoder y decoder espejados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7414" y="2057400"/>
            <a:ext cx="9976866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e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718" y="2203704"/>
            <a:ext cx="9684258" cy="3273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607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A554C"/>
                </a:solidFill>
                <a:latin typeface="Liberation Sans"/>
              </a:rPr>
              <a:t>4 convoluciones con stride 2: 64 → 32 → 16 → 8 → 4. El decoder, al revés.     </a:t>
            </a:r>
            <a:r>
              <a:rPr sz="1400" b="1" i="0">
                <a:solidFill>
                  <a:srgbClr val="2B2B2B"/>
                </a:solidFill>
                <a:latin typeface="Liberation Sans"/>
              </a:rPr>
              <a:t>2.434.243 parámetros.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A C T O   1   ·   E L   C A S O   B A S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Y aprende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6219" y="2148840"/>
            <a:ext cx="6779257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e_reconstru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523" y="2295144"/>
            <a:ext cx="6486649" cy="20848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4690872"/>
            <a:ext cx="5090007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690872"/>
            <a:ext cx="45720" cy="123444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73752"/>
            <a:ext cx="45413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9DD3"/>
                </a:solidFill>
                <a:latin typeface="Liberation Sans"/>
              </a:rPr>
              <a:t>Sobrevive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39512"/>
            <a:ext cx="454136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Forma de la cabeza, peinado, colores, pose, fondo.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4690872"/>
            <a:ext cx="5090007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4690872"/>
            <a:ext cx="45720" cy="123444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4873752"/>
            <a:ext cx="45413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4F30"/>
                </a:solidFill>
                <a:latin typeface="Liberation Sans"/>
              </a:rPr>
              <a:t>Se pierde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5239512"/>
            <a:ext cx="454136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El detalle fino: las líneas negras del contorno, los bordes nítidos.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D90F"/>
                </a:solidFill>
                <a:latin typeface="Liberation Sans"/>
              </a:rPr>
              <a:t>A C T O   1   ·   E L   C A S O   B A S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DF7E3"/>
                </a:solidFill>
                <a:latin typeface="Noto Serif"/>
              </a:rPr>
              <a:t>La idea tentadora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6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6"/>
                </a:solidFill>
                <a:latin typeface="Liberation Sans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286" y="1920240"/>
            <a:ext cx="3567107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e_generacion_aleato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590" y="2066544"/>
            <a:ext cx="3274499" cy="3822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2240280"/>
            <a:ext cx="49679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700" b="0" i="0">
                <a:solidFill>
                  <a:srgbClr val="FDF7E3"/>
                </a:solidFill>
                <a:latin typeface="Liberation Sans"/>
              </a:rPr>
              <a:t>Ya tenemos un decoder, ¿no?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00" b="0" i="0">
                <a:solidFill>
                  <a:srgbClr val="9B9487"/>
                </a:solidFill>
                <a:latin typeface="Liberation Sans"/>
              </a:rPr>
              <a:t>Sorteamos 16 vectores de N(0, I) y los decodificamos. No salen caras: sale </a:t>
            </a:r>
            <a:r>
              <a:rPr sz="1500" b="1" i="0">
                <a:solidFill>
                  <a:srgbClr val="FDF7E3"/>
                </a:solidFill>
                <a:latin typeface="Liberation Sans"/>
              </a:rPr>
              <a:t>la misma mancha dieciséis veces</a:t>
            </a:r>
            <a:r>
              <a:rPr sz="1500" b="0" i="0">
                <a:solidFill>
                  <a:srgbClr val="9B9487"/>
                </a:solidFill>
                <a:latin typeface="Liberation Sans"/>
              </a:rPr>
              <a:t>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00" b="0" i="0">
                <a:solidFill>
                  <a:srgbClr val="9B9487"/>
                </a:solidFill>
                <a:latin typeface="Liberation Sans"/>
              </a:rPr>
              <a:t>Que siempre devuelva lo mismo es la pista de dónde cayeron esos vectores.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00600"/>
            <a:ext cx="49679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D90F"/>
                </a:solidFill>
                <a:latin typeface="Noto Serif"/>
              </a:rPr>
              <a:t>No anda.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zarron_act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11959"/>
            <a:ext cx="5852160" cy="325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0" y="1965960"/>
            <a:ext cx="4327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D90F"/>
                </a:solidFill>
                <a:latin typeface="Liberation Sans"/>
              </a:rPr>
              <a:t>A C T O   1   ·   E L   C A S O   B A S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2377440"/>
            <a:ext cx="43278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DF7E3"/>
                </a:solidFill>
                <a:latin typeface="Noto Serif"/>
              </a:rPr>
              <a:t>La moraleja del 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3931920"/>
            <a:ext cx="4327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C9C2B2"/>
                </a:solidFill>
                <a:latin typeface="Liberation Sans"/>
              </a:rPr>
              <a:t>Comprime y descomprime. Reconstruye bien. Y no puede inventar 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A C T O   1   ·   E L   C A S O   B A S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Por qué falla: islas y huecos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76498" y="2148840"/>
            <a:ext cx="6638698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spacio_lat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802" y="2295144"/>
            <a:ext cx="6346090" cy="27249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5303520"/>
            <a:ext cx="5090007" cy="960120"/>
          </a:xfrm>
          <a:prstGeom prst="rect">
            <a:avLst/>
          </a:prstGeom>
          <a:solidFill>
            <a:srgbClr val="E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303520"/>
            <a:ext cx="50292" cy="96012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5458968"/>
            <a:ext cx="45413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9DD3"/>
                </a:solidFill>
                <a:latin typeface="Liberation Sans"/>
              </a:rPr>
              <a:t>C O N T I N U I D A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5788152"/>
            <a:ext cx="4486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Dos puntos cercanos deberían dar imágenes parecidas.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5303520"/>
            <a:ext cx="5090007" cy="960120"/>
          </a:xfrm>
          <a:prstGeom prst="rect">
            <a:avLst/>
          </a:prstGeom>
          <a:solidFill>
            <a:srgbClr val="E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5303520"/>
            <a:ext cx="50292" cy="96012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0479" y="5458968"/>
            <a:ext cx="45413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9DD3"/>
                </a:solidFill>
                <a:latin typeface="Liberation Sans"/>
              </a:rPr>
              <a:t>C O M P L E T I T U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0479" y="5788152"/>
            <a:ext cx="4486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Cualquier punto razonable debería dar algo con sentido.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zarron_act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11959"/>
            <a:ext cx="5852160" cy="325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0" y="1965960"/>
            <a:ext cx="4327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D90F"/>
                </a:solidFill>
                <a:latin typeface="Liberation Sans"/>
              </a:rPr>
              <a:t>A C T O   2   ·   L A   M E J O R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2377440"/>
            <a:ext cx="43278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DF7E3"/>
                </a:solidFill>
                <a:latin typeface="Noto Serif"/>
              </a:rPr>
              <a:t>La divergencia KL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3931920"/>
            <a:ext cx="4327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C9C2B2"/>
                </a:solidFill>
                <a:latin typeface="Liberation Sans"/>
              </a:rPr>
              <a:t>Si queremos un espacio sin huecos, tenemos que pedirlo.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4F30"/>
                </a:solidFill>
                <a:latin typeface="Liberation Sans"/>
              </a:rPr>
              <a:t>A C T O   2   ·   L A   M E J O R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Codificar una nube, no un punto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7795" y="1965960"/>
            <a:ext cx="9976104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e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99" y="2112264"/>
            <a:ext cx="9683496" cy="32278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5495544"/>
            <a:ext cx="5090007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650992"/>
            <a:ext cx="50900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2B2B2B"/>
                </a:solidFill>
                <a:latin typeface="Noto Serif"/>
              </a:rPr>
              <a:t>q(z | x)  =  N( μ(x),  σ²(x)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5623560"/>
            <a:ext cx="50900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Dos cabezas y un sorteo en el medio: solo </a:t>
            </a:r>
            <a:r>
              <a:rPr sz="1350" b="1" i="0">
                <a:solidFill>
                  <a:srgbClr val="2B2B2B"/>
                </a:solidFill>
                <a:latin typeface="Liberation Sans"/>
              </a:rPr>
              <a:t>524.416 parámetros más</a:t>
            </a:r>
            <a:r>
              <a:rPr sz="1350" b="0" i="0">
                <a:solidFill>
                  <a:srgbClr val="5A554C"/>
                </a:solidFill>
                <a:latin typeface="Liberation Sa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4F30"/>
                </a:solidFill>
                <a:latin typeface="Liberation Sans"/>
              </a:rPr>
              <a:t>A C T O   2   ·   L A   M E J O R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El resorte: la divergencia 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96312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B2B2B"/>
                </a:solidFill>
                <a:latin typeface="Noto Serif"/>
              </a:rPr>
              <a:t>KL  =  ½ Σⱼ ( μⱼ²  +  σⱼ² − log σⱼ² − 1 )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5090007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74720"/>
            <a:ext cx="45720" cy="132588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45413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9DD3"/>
                </a:solidFill>
                <a:latin typeface="Liberation Sans"/>
              </a:rPr>
              <a:t>μ²  ·  resorte al origen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454136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Impide separar las nubes. Sin esto, la red las manda lejos unas de otras y vuelven las islas.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474720"/>
            <a:ext cx="5090007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3474720"/>
            <a:ext cx="45720" cy="132588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3657600"/>
            <a:ext cx="45413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4F30"/>
                </a:solidFill>
                <a:latin typeface="Liberation Sans"/>
              </a:rPr>
              <a:t>σ² − log σ² − 1  ·  ni chica ni grande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023360"/>
            <a:ext cx="454136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Vale 0 en σ = 1 y castiga los dos extremos. Impide achicar las nubes hasta volver a un punto.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10545775" cy="1005840"/>
          </a:xfrm>
          <a:prstGeom prst="rect">
            <a:avLst/>
          </a:prstGeom>
          <a:solidFill>
            <a:srgbClr val="FA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50292" cy="100584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5138928"/>
            <a:ext cx="9997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4F30"/>
                </a:solidFill>
                <a:latin typeface="Liberation Sans"/>
              </a:rPr>
              <a:t>P É R D I D A   T O T A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5468112"/>
            <a:ext cx="9942271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BCE(x, x̂)  +  KL( N(μ, σ²) ‖ N(0, I) ).  La reconstrucción quiere nubes chicas y separadas; la KL las quiere estándar y encimadas. El VAE queda en el medio.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4F30"/>
                </a:solidFill>
                <a:latin typeface="Liberation Sans"/>
              </a:rPr>
              <a:t>A C T O   2   ·   L A   M E J O R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La nube de una cara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175723" y="2148840"/>
            <a:ext cx="7840249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e_variaciones_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27" y="2295144"/>
            <a:ext cx="7547641" cy="24505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5074920"/>
            <a:ext cx="10545775" cy="1051560"/>
          </a:xfrm>
          <a:prstGeom prst="rect">
            <a:avLst/>
          </a:prstGeom>
          <a:solidFill>
            <a:srgbClr val="FA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074920"/>
            <a:ext cx="50292" cy="105156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5230368"/>
            <a:ext cx="9997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4F30"/>
                </a:solidFill>
                <a:latin typeface="Liberation Sans"/>
              </a:rPr>
              <a:t>D Ó N D E   V A R Í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5559552"/>
            <a:ext cx="994227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La nube es angosta (σ medio 0,38), así que las muestras parecen iguales. La fila de abajo amplifica la diferencia ×6: toda la variación está en los contornos y el fondo, no en el relleno.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4F30"/>
                </a:solidFill>
                <a:latin typeface="Liberation Sans"/>
              </a:rPr>
              <a:t>A C T O   2   ·   L A   M E J O R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¿Y si agrandamos la nube?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09025"/>
            <a:ext cx="6766560" cy="3811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e_nube_agrand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355329"/>
            <a:ext cx="6473952" cy="35189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80" y="228600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Noto Serif"/>
              </a:rPr>
              <a:t>z = μ + k · σ · 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880360"/>
            <a:ext cx="341345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2B2B2B"/>
                </a:solidFill>
                <a:latin typeface="Liberation Sans"/>
              </a:rPr>
              <a:t>k = 0</a:t>
            </a:r>
            <a:r>
              <a:rPr sz="1400" b="0" i="0">
                <a:solidFill>
                  <a:srgbClr val="55606A"/>
                </a:solidFill>
                <a:latin typeface="Liberation Sans"/>
              </a:rPr>
              <a:t>  ·  la reconstrucción exacta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2B2B2B"/>
                </a:solidFill>
                <a:latin typeface="Liberation Sans"/>
              </a:rPr>
              <a:t>k = 1</a:t>
            </a:r>
            <a:r>
              <a:rPr sz="1400" b="0" i="0">
                <a:solidFill>
                  <a:srgbClr val="55606A"/>
                </a:solidFill>
                <a:latin typeface="Liberation Sans"/>
              </a:rPr>
              <a:t>  ·  el tamaño que aprendió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2B2B2B"/>
                </a:solidFill>
                <a:latin typeface="Liberation Sans"/>
              </a:rPr>
              <a:t>k = 3</a:t>
            </a:r>
            <a:r>
              <a:rPr sz="1400" b="0" i="0">
                <a:solidFill>
                  <a:srgbClr val="55606A"/>
                </a:solidFill>
                <a:latin typeface="Liberation Sans"/>
              </a:rPr>
              <a:t>  ·  todavía la misma cara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D94F30"/>
                </a:solidFill>
                <a:latin typeface="Liberation Sans"/>
              </a:rPr>
              <a:t>k = 6</a:t>
            </a:r>
            <a:r>
              <a:rPr sz="1400" b="0" i="0">
                <a:solidFill>
                  <a:srgbClr val="55606A"/>
                </a:solidFill>
                <a:latin typeface="Liberation Sans"/>
              </a:rPr>
              <a:t>  ·  recién acá se desarma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4800600"/>
            <a:ext cx="3413455" cy="1097280"/>
          </a:xfrm>
          <a:prstGeom prst="rect">
            <a:avLst/>
          </a:prstGeom>
          <a:solidFill>
            <a:srgbClr val="E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0" y="4800600"/>
            <a:ext cx="50292" cy="109728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4956048"/>
            <a:ext cx="2809951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Cada fila lleva la diferencia medida por píxel: crece siempre, aunque el ojo no la registre hasta k alto.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D90F"/>
                </a:solidFill>
                <a:latin typeface="Liberation Sans"/>
              </a:rPr>
              <a:t>A C T O   2   ·   L A   M E J O R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DF7E3"/>
                </a:solidFill>
                <a:latin typeface="Noto Serif"/>
              </a:rPr>
              <a:t>Esta vez la pérdida sí informa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6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6"/>
                </a:solidFill>
                <a:latin typeface="Liberation Sans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2180"/>
            <a:ext cx="8229600" cy="2565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rvas_perd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338484"/>
            <a:ext cx="7936992" cy="2272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64040" y="2057400"/>
            <a:ext cx="1904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D90F"/>
                </a:solidFill>
                <a:latin typeface="Liberation Sans"/>
              </a:rPr>
              <a:t>P O R   I M A G E N ,   2 0 0   É P O C A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404872"/>
            <a:ext cx="1904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DF7E3"/>
                </a:solidFill>
                <a:latin typeface="Noto Serif"/>
              </a:rPr>
              <a:t>6.576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3246120"/>
            <a:ext cx="19046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B9C4CB"/>
                </a:solidFill>
                <a:latin typeface="Liberation Sans"/>
              </a:rPr>
              <a:t>Mínimo de validación en la época 62: 6.668,29 nats.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069080"/>
            <a:ext cx="19046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 i="0">
                <a:solidFill>
                  <a:srgbClr val="9B9487"/>
                </a:solidFill>
                <a:latin typeface="Liberation Sans"/>
              </a:rPr>
              <a:t>KL estable en ~</a:t>
            </a:r>
            <a:r>
              <a:rPr sz="1400" b="1" i="0">
                <a:solidFill>
                  <a:srgbClr val="FDF7E3"/>
                </a:solidFill>
                <a:latin typeface="Liberation Sans"/>
              </a:rPr>
              <a:t>144 nats</a:t>
            </a:r>
            <a:r>
              <a:rPr sz="1400" b="0" i="0">
                <a:solidFill>
                  <a:srgbClr val="9B9487"/>
                </a:solidFill>
                <a:latin typeface="Liberation Sans"/>
              </a:rPr>
              <a:t>: no hubo colapso.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FDF7E3"/>
                </a:solidFill>
                <a:latin typeface="Liberation Sans"/>
              </a:rPr>
              <a:t>101 de 128</a:t>
            </a:r>
            <a:r>
              <a:rPr sz="1400" b="0" i="0">
                <a:solidFill>
                  <a:srgbClr val="9B9487"/>
                </a:solidFill>
                <a:latin typeface="Liberation Sans"/>
              </a:rPr>
              <a:t> dimensiones latentes llevan información.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A C T O   2   ·   L A   M E J O R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Reconstrucción: época 30 contra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50521"/>
            <a:ext cx="7589520" cy="37285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construcciones_30_vs_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396825"/>
            <a:ext cx="7296912" cy="34359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78240" y="2423160"/>
            <a:ext cx="2590495" cy="5120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79408" y="2560320"/>
            <a:ext cx="10224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ans"/>
              </a:rPr>
              <a:t>Validación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4180" y="2560320"/>
            <a:ext cx="7633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FFFFF"/>
                </a:solidFill>
                <a:latin typeface="Liberation Sans"/>
              </a:rPr>
              <a:t>nats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2935224"/>
            <a:ext cx="2590495" cy="475488"/>
          </a:xfrm>
          <a:prstGeom prst="rect">
            <a:avLst/>
          </a:prstGeom>
          <a:solidFill>
            <a:srgbClr val="FD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8" y="3063240"/>
            <a:ext cx="10224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Época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4180" y="3063240"/>
            <a:ext cx="7633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6.681,14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3538728"/>
            <a:ext cx="10224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Época 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4180" y="3538728"/>
            <a:ext cx="7633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6.682,84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3886200"/>
            <a:ext cx="2590495" cy="475488"/>
          </a:xfrm>
          <a:prstGeom prst="rect">
            <a:avLst/>
          </a:prstGeom>
          <a:solidFill>
            <a:srgbClr val="FD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4014216"/>
            <a:ext cx="10224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Mejor (ép. 62)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4180" y="4014216"/>
            <a:ext cx="7633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2B2B2B"/>
                </a:solidFill>
                <a:latin typeface="Liberation Sans"/>
              </a:rPr>
              <a:t>6.668,29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4434840"/>
            <a:ext cx="2590495" cy="1371600"/>
          </a:xfrm>
          <a:prstGeom prst="rect">
            <a:avLst/>
          </a:prstGeom>
          <a:solidFill>
            <a:srgbClr val="E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4434840"/>
            <a:ext cx="50292" cy="137160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4590288"/>
            <a:ext cx="1986991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La métrica se amesetó, pero los detalles finos sí mejoran: la pérdida promedia 12.288 valores y no registra una mejora de borde.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A C T O   2   ·   L A   M E J O R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El pago: caras que no existen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080152" y="2057400"/>
            <a:ext cx="6031391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e_vs_vae_gene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456" y="2203704"/>
            <a:ext cx="5738783" cy="34564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54C"/>
                </a:solidFill>
                <a:latin typeface="Liberation Sans"/>
              </a:rPr>
              <a:t>Mismos z, misma arquitectura, mismos datos. </a:t>
            </a:r>
            <a:r>
              <a:rPr sz="1400" b="1" i="0">
                <a:solidFill>
                  <a:srgbClr val="2B2B2B"/>
                </a:solidFill>
                <a:latin typeface="Liberation Sans"/>
              </a:rPr>
              <a:t>La diferencia es el término KL.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A C T O   2   ·   L A   M E J O R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Caminar entre dos caras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20</a:t>
            </a:r>
          </a:p>
        </p:txBody>
      </p:sp>
      <p:pic>
        <p:nvPicPr>
          <p:cNvPr id="6" name="Picture 5" descr="interpolaci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7918"/>
            <a:ext cx="7132320" cy="816244"/>
          </a:xfrm>
          <a:prstGeom prst="rect">
            <a:avLst/>
          </a:prstGeom>
        </p:spPr>
      </p:pic>
      <p:pic>
        <p:nvPicPr>
          <p:cNvPr id="7" name="Picture 6" descr="interpolaci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58038"/>
            <a:ext cx="7132320" cy="816244"/>
          </a:xfrm>
          <a:prstGeom prst="rect">
            <a:avLst/>
          </a:prstGeom>
        </p:spPr>
      </p:pic>
      <p:pic>
        <p:nvPicPr>
          <p:cNvPr id="8" name="Picture 7" descr="interpolacion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18158"/>
            <a:ext cx="7132320" cy="8162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2103120"/>
            <a:ext cx="3047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Noto Serif"/>
              </a:rPr>
              <a:t>z = (1−t)·μA + t·μB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606040"/>
            <a:ext cx="3047695" cy="1600200"/>
          </a:xfrm>
          <a:prstGeom prst="rect">
            <a:avLst/>
          </a:prstGeom>
          <a:solidFill>
            <a:srgbClr val="FA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2606040"/>
            <a:ext cx="50292" cy="160020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2761488"/>
            <a:ext cx="24990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4F30"/>
                </a:solidFill>
                <a:latin typeface="Liberation Sans"/>
              </a:rPr>
              <a:t>T R A N S I C I Ó N   G R A D U A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090672"/>
            <a:ext cx="2444191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Los diez pasos intermedios son caras válidas: no hay saltos ni zonas rotas.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343400"/>
            <a:ext cx="3047695" cy="1600200"/>
          </a:xfrm>
          <a:prstGeom prst="rect">
            <a:avLst/>
          </a:prstGeom>
          <a:solidFill>
            <a:srgbClr val="E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4343400"/>
            <a:ext cx="50292" cy="160020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4498848"/>
            <a:ext cx="24990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9DD3"/>
                </a:solidFill>
                <a:latin typeface="Liberation Sans"/>
              </a:rPr>
              <a:t>P O R   D I S E Ñ 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4828032"/>
            <a:ext cx="2444191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Es la continuidad del acto 1. En el autoencoder el camino podía cruzar un hueco.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zarron_act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11959"/>
            <a:ext cx="5852160" cy="325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0" y="1965960"/>
            <a:ext cx="4327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D90F"/>
                </a:solidFill>
                <a:latin typeface="Liberation Sans"/>
              </a:rPr>
              <a:t>A C T O   3   ·   T O D O S   L O S   D A T O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2377440"/>
            <a:ext cx="43278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DF7E3"/>
                </a:solidFill>
                <a:latin typeface="Noto Serif"/>
              </a:rPr>
              <a:t>Un solo modelo, los dos estilos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3931920"/>
            <a:ext cx="4327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C9C2B2"/>
                </a:solidFill>
                <a:latin typeface="Liberation Sans"/>
              </a:rPr>
              <a:t>El dataset trae cada cara dos veces. ¿Qué pasa si las mezclamos?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4F30"/>
                </a:solidFill>
                <a:latin typeface="Liberation Sans"/>
              </a:rPr>
              <a:t>A C T O   3   ·   T O D O S   L O S   D A T O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Cada cara viene en dos versiones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34260"/>
            <a:ext cx="6035040" cy="3761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380564"/>
            <a:ext cx="5742432" cy="34684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2148840"/>
            <a:ext cx="4144975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2148840"/>
            <a:ext cx="45720" cy="128016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2331720"/>
            <a:ext cx="3596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9DD3"/>
                </a:solidFill>
                <a:latin typeface="Liberation Sans"/>
              </a:rPr>
              <a:t>cropped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697480"/>
            <a:ext cx="35963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El fotograma real: sombreados, texturas, fondos. ~9.500 colores únicos por imagen.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566160"/>
            <a:ext cx="4144975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3566160"/>
            <a:ext cx="45720" cy="128016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3749040"/>
            <a:ext cx="3596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4F30"/>
                </a:solidFill>
                <a:latin typeface="Liberation Sans"/>
              </a:rPr>
              <a:t>simplified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4114800"/>
            <a:ext cx="35963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La misma cara con colores planos. 3 colores únicos por imagen.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4983480"/>
            <a:ext cx="4144975" cy="1097280"/>
          </a:xfrm>
          <a:prstGeom prst="rect">
            <a:avLst/>
          </a:prstGeom>
          <a:solidFill>
            <a:srgbClr val="FA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60" y="4983480"/>
            <a:ext cx="50292" cy="109728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5138928"/>
            <a:ext cx="35963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4F30"/>
                </a:solidFill>
                <a:latin typeface="Liberation Sans"/>
              </a:rPr>
              <a:t>L A   P R E G U N T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5468112"/>
            <a:ext cx="3541471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¿Qué hace el modelo cuando tiene que acomodar los dos estilos en el mismo latente de 128 dimensiones?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4F30"/>
                </a:solidFill>
                <a:latin typeface="Liberation Sans"/>
              </a:rPr>
              <a:t>A C T O   3   ·   T O D O S   L O S   D A T O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Un VAE con 19.754 imágenes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5120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286000"/>
            <a:ext cx="31832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iberation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9691" y="2286000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FFFFF"/>
                </a:solidFill>
                <a:latin typeface="Liberation Sans"/>
              </a:rPr>
              <a:t>solo cropped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9761" y="2286000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FFFFF"/>
                </a:solidFill>
                <a:latin typeface="Liberation Sans"/>
              </a:rPr>
              <a:t>solo simplified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9831" y="2286000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FFFFF"/>
                </a:solidFill>
                <a:latin typeface="Liberation Sans"/>
              </a:rPr>
              <a:t>los dos juntos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60904"/>
            <a:ext cx="10545775" cy="475488"/>
          </a:xfrm>
          <a:prstGeom prst="rect">
            <a:avLst/>
          </a:prstGeom>
          <a:solidFill>
            <a:srgbClr val="FD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88920"/>
            <a:ext cx="31832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Imágenes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9691" y="2788920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9.877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9761" y="2788920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9.877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9831" y="2788920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2B2B2B"/>
                </a:solidFill>
                <a:latin typeface="Liberation Sans"/>
              </a:rPr>
              <a:t>19.754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264408"/>
            <a:ext cx="31832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Pérdida total (train)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9691" y="3264408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6.576,28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9761" y="3264408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5.559,30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9831" y="3264408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2B2B2B"/>
                </a:solidFill>
                <a:latin typeface="Liberation Sans"/>
              </a:rPr>
              <a:t>6.090,26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611880"/>
            <a:ext cx="10545775" cy="475488"/>
          </a:xfrm>
          <a:prstGeom prst="rect">
            <a:avLst/>
          </a:prstGeom>
          <a:solidFill>
            <a:srgbClr val="FD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739896"/>
            <a:ext cx="31832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Divergencia KL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9691" y="3739896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144,49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9761" y="3739896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106,90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9831" y="3739896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2B2B2B"/>
                </a:solidFill>
                <a:latin typeface="Liberation Sans"/>
              </a:rPr>
              <a:t>129,07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215384"/>
            <a:ext cx="31832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Brecha val − 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9691" y="4215384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106,56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9761" y="4215384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18,06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9831" y="4215384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2B2B2B"/>
                </a:solidFill>
                <a:latin typeface="Liberation Sans"/>
              </a:rPr>
              <a:t>75,69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562856"/>
            <a:ext cx="10545775" cy="475488"/>
          </a:xfrm>
          <a:prstGeom prst="rect">
            <a:avLst/>
          </a:prstGeom>
          <a:solidFill>
            <a:srgbClr val="FD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4690872"/>
            <a:ext cx="31832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554C"/>
                </a:solidFill>
                <a:latin typeface="Liberation Sans"/>
              </a:rPr>
              <a:t>Tiempo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9691" y="4690872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10,6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9761" y="4690872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Liberation Sans"/>
              </a:rPr>
              <a:t>7,7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9831" y="4690872"/>
            <a:ext cx="1917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2B2B2B"/>
                </a:solidFill>
                <a:latin typeface="Liberation Sans"/>
              </a:rPr>
              <a:t>17,9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solidFill>
            <a:srgbClr val="FA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5257800"/>
            <a:ext cx="50292" cy="86868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" y="5413248"/>
            <a:ext cx="9942271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Queda entre los dos, como era esperable. Lo interesante no está en la pérdida: está en cómo organizó el espacio latente.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4F30"/>
                </a:solidFill>
                <a:latin typeface="Liberation Sans"/>
              </a:rPr>
              <a:t>A C T O   3   ·   T O D O S   L O S   D A T O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«Simplificar» es una dirección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5618" y="2057400"/>
            <a:ext cx="4155483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b_direccion_esti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922" y="2203704"/>
            <a:ext cx="3862875" cy="3730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89520" y="2148840"/>
            <a:ext cx="377921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404872"/>
            <a:ext cx="3779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B2B2B"/>
                </a:solidFill>
                <a:latin typeface="Noto Serif"/>
              </a:rPr>
              <a:t>v = media( μ_simp − μ_crop 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154680"/>
            <a:ext cx="3779215" cy="1280160"/>
          </a:xfrm>
          <a:prstGeom prst="rect">
            <a:avLst/>
          </a:prstGeom>
          <a:solidFill>
            <a:srgbClr val="FA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3154680"/>
            <a:ext cx="50292" cy="128016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2" y="3310128"/>
            <a:ext cx="3230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4F30"/>
                </a:solidFill>
                <a:latin typeface="Liberation Sans"/>
              </a:rPr>
              <a:t>C O N S I S T E N T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3639312"/>
            <a:ext cx="3175711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El 100 % de los 1.500 pares apunta para el mismo lado (coseno medio 0,28).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4572000"/>
            <a:ext cx="3779215" cy="1463040"/>
          </a:xfrm>
          <a:prstGeom prst="rect">
            <a:avLst/>
          </a:prstGeom>
          <a:solidFill>
            <a:srgbClr val="E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4572000"/>
            <a:ext cx="50292" cy="146304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2" y="4727448"/>
            <a:ext cx="3230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9DD3"/>
                </a:solidFill>
                <a:latin typeface="Liberation Sans"/>
              </a:rPr>
              <a:t>Y   G E N E R A L I Z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5056632"/>
            <a:ext cx="3175711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Estas caras no entraron en el cálculo de v. El modelo nunca supo que las imágenes venían en pares.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4F30"/>
                </a:solidFill>
                <a:latin typeface="Liberation Sans"/>
              </a:rPr>
              <a:t>A C T O   3   ·   T O D O S   L O S   D A T O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Caminar de un estilo al otro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8814" y="2148840"/>
            <a:ext cx="7054067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b_interpolacion_esti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118" y="2295144"/>
            <a:ext cx="6761459" cy="25420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5166360"/>
            <a:ext cx="10545775" cy="960120"/>
          </a:xfrm>
          <a:prstGeom prst="rect">
            <a:avLst/>
          </a:prstGeom>
          <a:solidFill>
            <a:srgbClr val="E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166360"/>
            <a:ext cx="50292" cy="96012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5321808"/>
            <a:ext cx="9997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9DD3"/>
                </a:solidFill>
                <a:latin typeface="Liberation Sans"/>
              </a:rPr>
              <a:t>I D E N T I D A D   Y   E S T I L O ,   S E P A R A B L E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5650992"/>
            <a:ext cx="994227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La transición es suave y la cara es siempre la misma, en la misma pose. El modelo puede mover el estilo dejando quieta la identidad.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4F30"/>
                </a:solidFill>
                <a:latin typeface="Liberation Sans"/>
              </a:rPr>
              <a:t>A C T O   3   ·   T O D O S   L O S   D A T O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¿Y qué estilo inventa?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4851" y="2011680"/>
            <a:ext cx="662199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b_gene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155" y="2157984"/>
            <a:ext cx="6329384" cy="27249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120640"/>
            <a:ext cx="5090007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120640"/>
            <a:ext cx="45720" cy="96012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45413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4F30"/>
                </a:solidFill>
                <a:latin typeface="Liberation Sans"/>
              </a:rPr>
              <a:t>46 % / 54 %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45413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Reparto parejo entre los dos estilos, medido en el espacio latente.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5120640"/>
            <a:ext cx="5090007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5120640"/>
            <a:ext cx="45720" cy="96012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5303520"/>
            <a:ext cx="45413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9DD3"/>
                </a:solidFill>
                <a:latin typeface="Liberation Sans"/>
              </a:rPr>
              <a:t>Y también híbridos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5669280"/>
            <a:ext cx="45413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En el medio aparecen caras que no existen en ninguna de las dos carpetas.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4F30"/>
                </a:solidFill>
                <a:latin typeface="Liberation Sans"/>
              </a:rPr>
              <a:t>A C T O   3   ·   T O D O S   L O S   D A T O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Cómo medimos en qué estilo dibuja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82801"/>
            <a:ext cx="7223760" cy="38811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b_estilo_proye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229105"/>
            <a:ext cx="6931152" cy="3588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2103120"/>
            <a:ext cx="295625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 i="0">
                <a:solidFill>
                  <a:srgbClr val="D94F30"/>
                </a:solidFill>
                <a:latin typeface="Liberation Sans"/>
              </a:rPr>
              <a:t>1.</a:t>
            </a:r>
            <a:r>
              <a:rPr sz="1350" b="0" i="0">
                <a:solidFill>
                  <a:srgbClr val="55606A"/>
                </a:solidFill>
                <a:latin typeface="Liberation Sans"/>
              </a:rPr>
              <a:t>  Normalizamos la dirección v.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 i="0">
                <a:solidFill>
                  <a:srgbClr val="D94F30"/>
                </a:solidFill>
                <a:latin typeface="Liberation Sans"/>
              </a:rPr>
              <a:t>2.</a:t>
            </a:r>
            <a:r>
              <a:rPr sz="1350" b="0" i="0">
                <a:solidFill>
                  <a:srgbClr val="55606A"/>
                </a:solidFill>
                <a:latin typeface="Liberation Sans"/>
              </a:rPr>
              <a:t>  Proyectamos los μ reales: cropped -1,09, simplified 1,33.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 i="0">
                <a:solidFill>
                  <a:srgbClr val="D94F30"/>
                </a:solidFill>
                <a:latin typeface="Liberation Sans"/>
              </a:rPr>
              <a:t>3.</a:t>
            </a:r>
            <a:r>
              <a:rPr sz="1350" b="0" i="0">
                <a:solidFill>
                  <a:srgbClr val="55606A"/>
                </a:solidFill>
                <a:latin typeface="Liberation Sans"/>
              </a:rPr>
              <a:t>  Proyectamos los z del prior y vemos de qué lado caen.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749040"/>
            <a:ext cx="29562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3749040"/>
            <a:ext cx="45720" cy="91440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3931920"/>
            <a:ext cx="2407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9DD3"/>
                </a:solidFill>
                <a:latin typeface="Liberation Sans"/>
              </a:rPr>
              <a:t>46 % / 54 %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97680"/>
            <a:ext cx="24076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606A"/>
                </a:solidFill>
                <a:latin typeface="Liberation Sans"/>
              </a:rPr>
              <a:t>Reparto entre los dos estilos.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800600"/>
            <a:ext cx="2956255" cy="1234440"/>
          </a:xfrm>
          <a:prstGeom prst="rect">
            <a:avLst/>
          </a:prstGeom>
          <a:solidFill>
            <a:srgbClr val="FA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4800600"/>
            <a:ext cx="50292" cy="123444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4956048"/>
            <a:ext cx="24076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4F30"/>
                </a:solidFill>
                <a:latin typeface="Liberation Sans"/>
              </a:rPr>
              <a:t>L O   Q U E   N O   S I R V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5285232"/>
            <a:ext cx="235275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La textura por píxel: el desenfoque la baja igual que la simplificación.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zarron_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11959"/>
            <a:ext cx="5852160" cy="325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0" y="1965960"/>
            <a:ext cx="4327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D90F"/>
                </a:solidFill>
                <a:latin typeface="Liberation Sans"/>
              </a:rPr>
              <a:t>C I E R R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2377440"/>
            <a:ext cx="43278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DF7E3"/>
                </a:solidFill>
                <a:latin typeface="Noto Serif"/>
              </a:rPr>
              <a:t>Lo que aprendimos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3931920"/>
            <a:ext cx="4327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C9C2B2"/>
                </a:solidFill>
                <a:latin typeface="Liberation Sans"/>
              </a:rPr>
              <a:t>Todo el trabajo, escrito en el pizarrón.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9DD3"/>
                </a:solidFill>
                <a:latin typeface="Liberation Sans"/>
              </a:rPr>
              <a:t>C I E R R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Noto Serif"/>
              </a:rPr>
              <a:t>Por qué sale borroso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487"/>
                </a:solidFill>
                <a:latin typeface="Liberation Sans"/>
              </a:rPr>
              <a:t>VAEs sobre Los Simpson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B9487"/>
                </a:solidFill>
                <a:latin typeface="Liberation Sans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090007" cy="1554480"/>
          </a:xfrm>
          <a:prstGeom prst="rect">
            <a:avLst/>
          </a:prstGeom>
          <a:solidFill>
            <a:srgbClr val="FA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50292" cy="1554480"/>
          </a:xfrm>
          <a:prstGeom prst="rect">
            <a:avLst/>
          </a:prstGeom>
          <a:solidFill>
            <a:srgbClr val="D94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304288"/>
            <a:ext cx="45413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4F30"/>
                </a:solidFill>
                <a:latin typeface="Liberation Sans"/>
              </a:rPr>
              <a:t>P O R   Q U É   E S   B O R R O S 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2633472"/>
            <a:ext cx="4486503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La BCE premia el promedio de las posiciones posibles de cada borde. El promedio de muchas caras es una cara borrosa. No es falta de entrenamiento.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148840"/>
            <a:ext cx="5090007" cy="1554480"/>
          </a:xfrm>
          <a:prstGeom prst="rect">
            <a:avLst/>
          </a:prstGeom>
          <a:solidFill>
            <a:srgbClr val="E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48840"/>
            <a:ext cx="50292" cy="1554480"/>
          </a:xfrm>
          <a:prstGeom prst="rect">
            <a:avLst/>
          </a:prstGeom>
          <a:solidFill>
            <a:srgbClr val="109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0479" y="2304288"/>
            <a:ext cx="45413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9DD3"/>
                </a:solidFill>
                <a:latin typeface="Liberation Sans"/>
              </a:rPr>
              <a:t>Q U É   H A C E   D I S T I N T O   U N A   G A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0479" y="2633472"/>
            <a:ext cx="4486503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5606A"/>
                </a:solidFill>
                <a:latin typeface="Liberation Sans"/>
              </a:rPr>
              <a:t>El discriminador castiga lo que no parece real, y una cara promedio no lo parece. Más nítido, a cambio de inestabilidad y mode collapse.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4272" y="3931920"/>
            <a:ext cx="488315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ae_variaciones_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576" y="4078224"/>
            <a:ext cx="4590542" cy="1490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" y="58978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A554C"/>
                </a:solidFill>
                <a:latin typeface="Liberation Sans"/>
              </a:rPr>
              <a:t>La prueba: la variación del modelo está toda en los contornos, que es justo donde </a:t>
            </a:r>
            <a:r>
              <a:rPr sz="1400" b="1" i="0">
                <a:solidFill>
                  <a:srgbClr val="2B2B2B"/>
                </a:solidFill>
                <a:latin typeface="Liberation Sans"/>
              </a:rPr>
              <a:t>no sabe dónde cae el borde</a:t>
            </a:r>
            <a:r>
              <a:rPr sz="1400" b="0" i="0">
                <a:solidFill>
                  <a:srgbClr val="5A554C"/>
                </a:solidFill>
                <a:latin typeface="Liberation Sans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15440"/>
            <a:ext cx="6035039" cy="33527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2377440"/>
            <a:ext cx="4144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D90F"/>
                </a:solidFill>
                <a:latin typeface="Liberation Sans"/>
              </a:rPr>
              <a:t>G R A C I A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0" y="2788920"/>
            <a:ext cx="41449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DF7E3"/>
                </a:solidFill>
                <a:latin typeface="Noto Serif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3931920"/>
            <a:ext cx="41449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 i="0">
                <a:solidFill>
                  <a:srgbClr val="9B9487"/>
                </a:solidFill>
                <a:latin typeface="Liberation Sans"/>
              </a:rPr>
              <a:t>Todo el código, los checkpoints y las figuras están en el repositorio del trabajo.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 i="0">
                <a:solidFill>
                  <a:srgbClr val="9B9487"/>
                </a:solidFill>
                <a:latin typeface="Liberation Sans"/>
              </a:rPr>
              <a:t>Los tres modelos se entrenan de cero en menos de 40 minutos de GPU.</a:t>
            </a:r>
          </a:p>
        </p:txBody>
      </p:sp>
      <p:pic>
        <p:nvPicPr>
          <p:cNvPr id="6" name="Picture 5" descr="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5212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